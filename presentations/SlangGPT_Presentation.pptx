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chrF Score</c:v>
                </c:pt>
              </c:strCache>
            </c:strRef>
          </c:tx>
          <c:spPr>
            <a:solidFill>
              <a:srgbClr val="4455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55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Zero-shot</c:v>
                  </c:pt>
                  <c:pt idx="1">
                    <c:v>Fine-tuned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10.62</c:v>
                </c:pt>
                <c:pt idx="1">
                  <c:v>29.08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8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8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3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BLEU</c:v>
                </c:pt>
              </c:strCache>
            </c:strRef>
          </c:tx>
          <c:spPr>
            <a:solidFill>
              <a:srgbClr val="4455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55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Zero-shot</c:v>
                  </c:pt>
                  <c:pt idx="1">
                    <c:v>Fine-tuned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0.02</c:v>
                </c:pt>
                <c:pt idx="1">
                  <c:v>6.63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8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8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3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4455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55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Zero-shot</c:v>
                  </c:pt>
                  <c:pt idx="1">
                    <c:v>Fine-tuned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0.956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8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D8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3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05E5E"/>
              </a:solidFill>
              <a:effectLst/>
            </c:spPr>
          </c:dPt>
          <c:dPt>
            <c:idx val="1"/>
            <c:bubble3D val="0"/>
            <c:spPr>
              <a:solidFill>
                <a:srgbClr val="5B4D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False Positives (101)</c:v>
                </c:pt>
                <c:pt idx="1">
                  <c:v>False Negatives (58)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101</c:v>
                </c:pt>
                <c:pt idx="1">
                  <c:v>58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SlangGPT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A8D8E0"/>
                </a:solidFill>
              </a:rPr>
              <a:t>Fine-tuning AraGPT-2 for Egyptian Arabic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A8D8E0"/>
                </a:solidFill>
              </a:rPr>
              <a:t>Dialect → Modern Standard Arabic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41148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CEDD"/>
                </a:solidFill>
              </a:rPr>
              <a:t>Abdelrahman Ahmed  ·  Adham Ashraf  ·  Ahmed Fekry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ECEDD"/>
                </a:solidFill>
              </a:rPr>
              <a:t>AIU University  ·  Course AIE241 — NLP  ·  Supervisor: Ashraf Elsayed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14173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20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AraGPT-2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84248" y="3520440"/>
            <a:ext cx="14173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4248" y="3520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Egyptian Arabic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11296" y="3520440"/>
            <a:ext cx="14173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11296" y="3520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Dialect NLP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38344" y="3520440"/>
            <a:ext cx="14173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8344" y="3520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Fine-tuning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65392" y="3520440"/>
            <a:ext cx="14173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352044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</a:rPr>
              <a:t>MSA Generation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Stanford CS224N Framework Extension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563624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1563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</a:rPr>
              <a:t>Why Egyptian Arabic Is Hard for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690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Arabic Is NOT One Language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100M+ Egyptians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speak Egyptian Arabic daily — not MSA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MSA</a:t>
            </a:r>
            <a:pPr indent="0" marL="0">
              <a:buNone/>
            </a:pPr>
            <a:r>
              <a:rPr lang="en-US" sz="1200" dirty="0">
                <a:solidFill>
                  <a:srgbClr val="0D1B3E"/>
                </a:solidFill>
              </a:rPr>
              <a:t> (Modern Standard Arabic) is used in newspapers, books &amp; NLP models.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The GAP is massive: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944368"/>
            <a:ext cx="10058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443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Phonology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54480" y="2971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mish  ≠  laysa  ("is not")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46704"/>
            <a:ext cx="10058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34670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Loanwords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337413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okay, merci, bravo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10058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749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Interrogatives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554480" y="37764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eih  ≠  maza  ("what")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151376"/>
            <a:ext cx="100584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51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Tone particles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554480" y="4178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khalas, yalla, tab — no MSA match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5E5E"/>
                </a:solidFill>
              </a:rPr>
              <a:t>What This Means for NLP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00600" y="1691640"/>
            <a:ext cx="45720" cy="594360"/>
          </a:xfrm>
          <a:prstGeom prst="rect">
            <a:avLst/>
          </a:prstGeom>
          <a:solidFill>
            <a:srgbClr val="F05E5E"/>
          </a:solidFill>
          <a:ln w="12700">
            <a:solidFill>
              <a:srgbClr val="F05E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691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Translation fails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198424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Models produce irrelevant MSA or web-crawl text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560320"/>
            <a:ext cx="45720" cy="594360"/>
          </a:xfrm>
          <a:prstGeom prst="rect">
            <a:avLst/>
          </a:prstGeom>
          <a:solidFill>
            <a:srgbClr val="F05E5E"/>
          </a:solidFill>
          <a:ln w="12700">
            <a:solidFill>
              <a:srgbClr val="F05E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5603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Chatbots break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285292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Assistants can't understand or respond to Egyptian input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429000"/>
            <a:ext cx="45720" cy="594360"/>
          </a:xfrm>
          <a:prstGeom prst="rect">
            <a:avLst/>
          </a:prstGeom>
          <a:solidFill>
            <a:srgbClr val="F05E5E"/>
          </a:solidFill>
          <a:ln w="12700">
            <a:solidFill>
              <a:srgbClr val="F05E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429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NLP benchmarks lie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56048" y="37216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High MSA accuracy ≠ real-world performance on dialectal data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657600"/>
            <a:ext cx="38862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6576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Our Solution: Fine-tune AraGPT-2 to bridge the Egyptian ↔ MSA gap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6128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The Data: 18,250 Parallel Sentence Pairs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18,250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589227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Parallel pairs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(Egyptian ↔ MSA)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2024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07899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36,500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1589227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Detection examples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(with hard negatives)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00584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07899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80 / 10 / 10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17720" y="1589227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Train / Dev / 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split ratio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005840"/>
            <a:ext cx="192024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078992"/>
            <a:ext cx="1920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14,600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1589227"/>
            <a:ext cx="192024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Training pairs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 fine-tuning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8503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304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How the Dataset Was Built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63347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9536" y="263347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Original Egyptian→English corpus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(Abdalrahmankamel)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0" y="2798064"/>
            <a:ext cx="228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8608" y="263347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80944" y="263347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Keep Egyptian Arabic sentences,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drop English translations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07408" y="2798064"/>
            <a:ext cx="228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00016" y="263347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02352" y="263347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Add new MSA translations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manually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28816" y="2798064"/>
            <a:ext cx="228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21424" y="2633472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760" y="2633472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Normalize: remove diacritics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(tashkeel), clean punctuation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749040"/>
            <a:ext cx="8503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3813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E5E"/>
                </a:solidFill>
              </a:rPr>
              <a:t>Hard Negative Sampling (Detection Only)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1330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For each Egyptian sentence, a </a:t>
            </a:r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mismatched MSA sentence from a different example</a:t>
            </a:r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 is paired as a negative example.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This forces the classifier to learn fine-grained semantic matching — not just surface-level patterns.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Result: 50% correct pairs + 50% plausible-but-wrong pairs = balanced binary classification dataset.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66420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AraGPT-2: The Backbone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0"/>
                </a:solidFill>
              </a:rPr>
              <a:t>Both tasks are built on AraGPT-2 — an Arabic-native GPT-2 transformer pretrained on 77 GB of Arabic web 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84048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996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Input Tokens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Egyptian Arabic 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tokenized into subwords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21992" y="2029968"/>
            <a:ext cx="0" cy="914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21408"/>
            <a:ext cx="384048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5798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Token Embeddings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395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Each token → dense vector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(learned during pretraining)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21992" y="2688336"/>
            <a:ext cx="0" cy="914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779776"/>
            <a:ext cx="384048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16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Positional Encoding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3054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Adds position info since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Transformers have no order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21992" y="3346704"/>
            <a:ext cx="0" cy="914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438144"/>
            <a:ext cx="3840480" cy="566928"/>
          </a:xfrm>
          <a:prstGeom prst="rect">
            <a:avLst/>
          </a:prstGeom>
          <a:solidFill>
            <a:srgbClr val="024A5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474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12 × Transformer Block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712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Self-attention + FFN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Captures long-range context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21992" y="4005072"/>
            <a:ext cx="0" cy="9144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096512"/>
            <a:ext cx="3840480" cy="566928"/>
          </a:xfrm>
          <a:prstGeom prst="rect">
            <a:avLst/>
          </a:prstGeom>
          <a:solidFill>
            <a:srgbClr val="024A5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133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Output Hidden States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4370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One vector per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dim d = 768 (medium) / 512 (base)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1417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Two Variants Used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0" y="1810512"/>
            <a:ext cx="4206240" cy="1417320"/>
          </a:xfrm>
          <a:prstGeom prst="rect">
            <a:avLst/>
          </a:prstGeom>
          <a:solidFill>
            <a:srgbClr val="122A42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18836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aragpt2-medium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09160" y="217627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Used for: Generation task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~355M parameters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12 layers · 768 hidden dim · 12 heads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Max context: 1,024 tokens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364992"/>
            <a:ext cx="4206240" cy="1417320"/>
          </a:xfrm>
          <a:prstGeom prst="rect">
            <a:avLst/>
          </a:prstGeom>
          <a:solidFill>
            <a:srgbClr val="122A42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09160" y="3438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aragpt2-base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3730752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Used for: Detection task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~135M parameters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12 layers · 512 hidden dim · 8 heads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Max context: 1,024 tokens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0" y="4828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Both are decoder-only (GPT-style): predict next token left → right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368296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2368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1 — GENERATION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Dialect-to-MSA Generation Pipeline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005840" y="10241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18288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155448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Format Prompt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3192" y="1883664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[Egyptian]: {x}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[MSA]: {y} &lt;eos&gt;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48840" y="2249424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2112" y="10241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96312" y="1481328"/>
            <a:ext cx="18288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69464" y="155448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Mask Prompt Loss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9464" y="1883664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Set prompt token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labels to −100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(ignored by gradient)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25112" y="2249424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58384" y="10241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72584" y="1481328"/>
            <a:ext cx="18288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45736" y="155448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AraGPT-2 Medium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45736" y="1883664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Autoregressive LM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predicts MSA tokens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one by one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01384" y="2249424"/>
            <a:ext cx="32004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34656" y="1024128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34656" y="1024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48856" y="1481328"/>
            <a:ext cx="182880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22008" y="1554480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Nucleus Sampling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922008" y="1883664"/>
            <a:ext cx="16824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T=0.7, top-k=50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top-p=0.92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rep. penalty=1.3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182112"/>
            <a:ext cx="5303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2552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The Loss Function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56616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L_gen = − Σ log p( y_t | [Egyptian]:x, y&lt;t 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Only MSA output tokens </a:t>
            </a:r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(y_t)</a:t>
            </a:r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 contribute to the gradient.
The Egyptian prompt is masked with label=−100 so the model learns:
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</a:rPr>
              <a:t>"Given this Egyptian input, predict the correct MSA word-by-word."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806440" y="3182112"/>
            <a:ext cx="3017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0" y="3255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Inference Decoding Params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36118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Temperature T=0.7: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69480" y="36118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Flattens prob. dist. slightly — more diverse outputs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3904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top-k = 50: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69480" y="390448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Only sample from top 50 tokens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43600" y="41970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top-p = 0.92: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69480" y="41970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Keep tokens covering 92% of prob. mass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43600" y="44897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Rep. penalty 1.3: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69480" y="4489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Penalise repeating the same words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6771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2 — DETECTION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Dialect Translation Detection Pipeline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389120" cy="822960"/>
          </a:xfrm>
          <a:prstGeom prst="rect">
            <a:avLst/>
          </a:prstGeom>
          <a:solidFill>
            <a:srgbClr val="E8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6070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Cloze Prompt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8912" y="13167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[Egyptian]: "slang text"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[MSA]: "formal candidate"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Is this correct? [Yes/No]: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417320" y="1828800"/>
            <a:ext cx="0" cy="13716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965960"/>
            <a:ext cx="4389120" cy="822960"/>
          </a:xfrm>
          <a:prstGeom prst="rect">
            <a:avLst/>
          </a:prstGeom>
          <a:solidFill>
            <a:srgbClr val="E8F8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2082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AraGPT-2 Base Encoder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22768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Full prompt encoded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(max 160 tokens)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Decoder-only transformer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417320" y="2788920"/>
            <a:ext cx="0" cy="13716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926080"/>
            <a:ext cx="4389120" cy="822960"/>
          </a:xfrm>
          <a:prstGeom prst="rect">
            <a:avLst/>
          </a:prstGeom>
          <a:solidFill>
            <a:srgbClr val="D5F0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98094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Extract h_last ∈ ℝᵈ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323697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Hidden state of the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FINAL non-padding token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Captures the whole prompt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3749040"/>
            <a:ext cx="0" cy="13716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886200"/>
            <a:ext cx="4389120" cy="822960"/>
          </a:xfrm>
          <a:prstGeom prst="rect">
            <a:avLst/>
          </a:prstGeom>
          <a:solidFill>
            <a:srgbClr val="D5F0F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394106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Linear Classifier Head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4197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z = W·h_last + 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W ∈ ℝ²ˣᵈ, b ∈ ℝ²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Softmax → [P(yes), P(no)]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864608"/>
            <a:ext cx="205740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864608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✓  CORRECT translation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14600" y="4864608"/>
            <a:ext cx="2194560" cy="292608"/>
          </a:xfrm>
          <a:prstGeom prst="rect">
            <a:avLst/>
          </a:prstGeom>
          <a:solidFill>
            <a:srgbClr val="F05E5E"/>
          </a:solidFill>
          <a:ln w="12700">
            <a:solidFill>
              <a:srgbClr val="F05E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48646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✗  INCORRECT translation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1005840"/>
            <a:ext cx="38404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120640" y="10789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Why Extract the LAST Token?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20640" y="1426464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GPT-2 is a causal (left-to-right) model.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The last token has attended to ALL previous tokens.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So its hidden state is a compressed summary of the entire prompt — including both the Egyptian input and the MSA candidate.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This single vector is all the classifier needs.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3182112"/>
            <a:ext cx="38404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12064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Binary Cross-Entropy Loss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20640" y="35661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L_det = −[ y·log P(1|x,s) + (1−y)·log P(0|x,s) 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395020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y=1 for correct translations, y=0 for hard negatives.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The classifier head W is randomly initialized and trained from scratch; the AraGPT-2 weights are fine-tuned jointly.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65376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TRAINING 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Hyperparameters &amp; Their Meaning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1463040"/>
                <a:gridCol w="3931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Hyperparameter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Generation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Detection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Means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Base model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aragpt2-medium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75"/>
                          </a:solidFill>
                        </a:rPr>
                        <a:t>aragpt2-base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Larger model for harder generative 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Learning rate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5 × 10⁻⁵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75"/>
                          </a:solidFill>
                        </a:rPr>
                        <a:t>2 × 10⁻⁵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How fast weights update — lower = safer on small data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Batch size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8 (eff. 32)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75"/>
                          </a:solidFill>
                        </a:rPr>
                        <a:t>16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Samples per gradient step; gradient accum. ×4 for gen.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LR schedule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Cosine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75"/>
                          </a:solidFill>
                        </a:rPr>
                        <a:t>Linear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Cosine: smooth decay to ~0. Linear: steady drop.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Warmup ratio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75"/>
                          </a:solidFill>
                        </a:rPr>
                        <a:t>10%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Ramp up LR first 10% of steps — prevents instability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Weight decay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0.01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75"/>
                          </a:solidFill>
                        </a:rPr>
                        <a:t>0.01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L2 regularization — reduces overfitting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Max epochs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10 (stopped at 5)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75"/>
                          </a:solidFill>
                        </a:rPr>
                        <a:t>8 (ran full)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Early stopping on dev loss (patience = 3)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Max input len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64 tokens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75"/>
                          </a:solidFill>
                        </a:rPr>
                        <a:t>160 tokens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Detection needs longer context for both sentences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D1B3E"/>
                          </a:solidFill>
                        </a:rPr>
                        <a:t>Grad. clipping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max norm 1.0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28075"/>
                          </a:solidFill>
                        </a:rPr>
                        <a:t>none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Prevents exploding gradients on small corpus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6771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EVALUATION METRICS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the Metrics Actually Mean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651760" cy="3858768"/>
          </a:xfrm>
          <a:prstGeom prst="rect">
            <a:avLst/>
          </a:prstGeom>
          <a:solidFill>
            <a:srgbClr val="0D2137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26517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chrF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078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Character n-gram F-score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WHAT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647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Measures character-level overlap between generated MSA and the reference translation.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505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HOW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6791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Counts shared character sequences (not whole words). More forgiving of morphological variation in Arabic.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364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OUR RESULT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593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0–100. Higher = better.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Ours: 29.08 vs baseline 10.62.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+18.5 points improvement.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54680" y="987552"/>
            <a:ext cx="2651760" cy="3858768"/>
          </a:xfrm>
          <a:prstGeom prst="rect">
            <a:avLst/>
          </a:prstGeom>
          <a:solidFill>
            <a:srgbClr val="0D2137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987552"/>
            <a:ext cx="2651760" cy="475488"/>
          </a:xfrm>
          <a:prstGeom prst="rect">
            <a:avLst/>
          </a:prstGeom>
          <a:solidFill>
            <a:srgbClr val="5B4DB8"/>
          </a:solidFill>
          <a:ln w="12700">
            <a:solidFill>
              <a:srgbClr val="5B4D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0058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BLEU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343400" y="1078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Bilingual Evaluation Understudy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46120" y="1536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8FE8"/>
                </a:solidFill>
              </a:rPr>
              <a:t>WHAT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46120" y="17647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Measures n-gram precision: how many word-chunks in the output appear in the reference.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24505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8FE8"/>
                </a:solidFill>
              </a:rPr>
              <a:t>HOW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46120" y="26791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Counts 1-gram through 4-gram matches, applies brevity penalty for too-short outputs.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6120" y="3364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8FE8"/>
                </a:solidFill>
              </a:rPr>
              <a:t>OUR RESULT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46120" y="3593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0–100. Higher = better.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Ours: 6.63 vs baseline 0.02.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Low but normal for dialect→MSA.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987552"/>
            <a:ext cx="2651760" cy="3858768"/>
          </a:xfrm>
          <a:prstGeom prst="rect">
            <a:avLst/>
          </a:prstGeom>
          <a:solidFill>
            <a:srgbClr val="0D2137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987552"/>
            <a:ext cx="2651760" cy="475488"/>
          </a:xfrm>
          <a:prstGeom prst="rect">
            <a:avLst/>
          </a:prstGeom>
          <a:solidFill>
            <a:srgbClr val="F05E5E"/>
          </a:solidFill>
          <a:ln w="12700">
            <a:solidFill>
              <a:srgbClr val="F05E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100584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PPL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78040" y="10789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Perplexity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080760" y="15361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5E5E"/>
                </a:solidFill>
              </a:rPr>
              <a:t>WHAT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17647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How surprised the model is by the test data. Lower = model predicts tokens more confidently.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4505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5E5E"/>
                </a:solidFill>
              </a:rPr>
              <a:t>HOW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267919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PPL = exp(average negative log-likelihood per token) over the FULL sequence.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3649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5E5E"/>
                </a:solidFill>
              </a:rPr>
              <a:t>OUR RESULT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80760" y="3593592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Lower = better (usually).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Ours INCREASED: 11.8M → 59.1M.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0"/>
                </a:solidFill>
              </a:rPr>
              <a:t>See next slide for why.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82803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Detection uses Accuracy: correct predictions / total examples.  Random baseline = 0.500.  Fine-tuned = 0.956.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26771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PERPLEXITY ANOMALY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B3E"/>
                </a:solidFill>
              </a:rPr>
              <a:t>Why Did Perplexity INCREASE After Fine-Tuning?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Zero-shot PPL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11,851,030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1417320"/>
            <a:ext cx="548640" cy="0"/>
          </a:xfrm>
          <a:prstGeom prst="line">
            <a:avLst/>
          </a:prstGeom>
          <a:noFill/>
          <a:ln w="38100">
            <a:solidFill>
              <a:srgbClr val="F05E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2618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5E5E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960120"/>
            <a:ext cx="2743200" cy="914400"/>
          </a:xfrm>
          <a:prstGeom prst="rect">
            <a:avLst/>
          </a:prstGeom>
          <a:solidFill>
            <a:srgbClr val="F05E5E"/>
          </a:solidFill>
          <a:ln w="12700">
            <a:solidFill>
              <a:srgbClr val="F05E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987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Fine-tuned PPL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2618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59,104,078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720840" y="960120"/>
            <a:ext cx="2103120" cy="914400"/>
          </a:xfrm>
          <a:prstGeom prst="rect">
            <a:avLst/>
          </a:prstGeom>
          <a:solidFill>
            <a:srgbClr val="FFF3F3"/>
          </a:solidFill>
          <a:ln w="12700">
            <a:solidFill>
              <a:srgbClr val="F05E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98755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5E5E"/>
                </a:solidFill>
              </a:rPr>
              <a:t>This looks bad.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5E5E"/>
                </a:solidFill>
              </a:rPr>
              <a:t>But it is NOT.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05E5E"/>
                </a:solidFill>
              </a:rPr>
              <a:t>Here is why: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0574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148840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" y="21488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What PPL actually measures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11480" y="2532888"/>
            <a:ext cx="3950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Perplexity = how well the model predicts EVERY token in the test sequence.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The test sequence includes BOTH the Egyptian prompt AND the MSA output.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05740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148840"/>
            <a:ext cx="329184" cy="329184"/>
          </a:xfrm>
          <a:prstGeom prst="ellipse">
            <a:avLst/>
          </a:prstGeom>
          <a:solidFill>
            <a:srgbClr val="5B4DB8"/>
          </a:solidFill>
          <a:ln w="12700">
            <a:solidFill>
              <a:srgbClr val="5B4D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66944" y="21488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What fine-tuning does to the model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2532888"/>
            <a:ext cx="3950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Fine-tuning shifts the model's distribution toward MSA. The Egyptian prompt tokens (which are masked from the loss with label=−100) NEVER receive gradient updates.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So the model becomes WORSE at predicting Egyptian tokens.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365760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" y="3657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Why this raises perplexity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1480" y="4041648"/>
            <a:ext cx="3950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When evaluating, PPL is computed over the FULL sequence.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The model now finds the Egyptian prompt surprising (low probability) → PPL spikes.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This would happen even with 10x more data — it is a measurement artifact.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6616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65760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66944" y="3657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28090"/>
                </a:solidFill>
              </a:rPr>
              <a:t>The proof it is not a real problem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46320" y="4041648"/>
            <a:ext cx="39502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chrF went from 10.62 → 29.08 (+173%).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BLEU went from 0.02 → 6.63 (+33,000%).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Translation quality clearly improved. PPL is just the wrong metric for conditional fine-tuned models.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16128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1161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Results: Before vs After Fine-Tuning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Generation (chrF)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261872"/>
          <a:ext cx="4114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401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BLEU Score</a:t>
            </a:r>
            <a:endParaRPr lang="en-US" sz="13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320040" y="3675888"/>
          <a:ext cx="41148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70916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Detection (Accuracy)</a:t>
            </a:r>
            <a:endParaRPr lang="en-US" sz="1300" dirty="0"/>
          </a:p>
        </p:txBody>
      </p:sp>
      <p:graphicFrame>
        <p:nvGraphicFramePr>
          <p:cNvPr id="10" name="Chart 2" descr=""/>
          <p:cNvGraphicFramePr/>
          <p:nvPr/>
        </p:nvGraphicFramePr>
        <p:xfrm>
          <a:off x="4709160" y="1261872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Shape 6"/>
          <p:cNvSpPr/>
          <p:nvPr/>
        </p:nvSpPr>
        <p:spPr>
          <a:xfrm>
            <a:off x="4709160" y="3913632"/>
            <a:ext cx="4114800" cy="1042416"/>
          </a:xfrm>
          <a:prstGeom prst="rect">
            <a:avLst/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4846320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vs Stanford (Hernandez &amp; Naik)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4846320" y="42611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D8E0"/>
                </a:solidFill>
              </a:rPr>
              <a:t>Detection: </a:t>
            </a:r>
            <a:pPr indent="0" marL="0">
              <a:buNone/>
            </a:pPr>
            <a:r>
              <a:rPr lang="en-US" sz="1050" dirty="0">
                <a:solidFill>
                  <a:srgbClr val="A8D8E0"/>
                </a:solidFill>
              </a:rPr>
              <a:t>0.956 ours  vs  0.965 theirs  </a:t>
            </a:r>
            <a:pPr indent="0" marL="0">
              <a:buNone/>
            </a:pPr>
            <a:r>
              <a:rPr lang="en-US" sz="1050" dirty="0">
                <a:solidFill>
                  <a:srgbClr val="02C39A"/>
                </a:solidFill>
              </a:rPr>
              <a:t>(nearly identical!)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A8D8E0"/>
                </a:solidFill>
              </a:rPr>
              <a:t>Generation chrF: </a:t>
            </a:r>
            <a:pPr indent="0" marL="0">
              <a:buNone/>
            </a:pPr>
            <a:r>
              <a:rPr lang="en-US" sz="1050" dirty="0">
                <a:solidFill>
                  <a:srgbClr val="A8D8E0"/>
                </a:solidFill>
              </a:rPr>
              <a:t>29.08 ours  vs  41.9 theirs</a:t>
            </a:r>
            <a:pPr indent="0" marL="0">
              <a:buNone/>
            </a:pPr>
            <a:r>
              <a:rPr lang="en-US" sz="1050" i="1" dirty="0">
                <a:solidFill>
                  <a:srgbClr val="A8D8E0"/>
                </a:solidFill>
              </a:rPr>
              <a:t>  (lower — cross-register is harder than same-author style)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26187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46304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D1B3E"/>
                </a:solidFill>
              </a:rPr>
              <a:t>Error Analysis &amp; Qualitative Results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Detection: 159 Errors on 3,650 Test Examples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20040" y="1371600"/>
          <a:ext cx="21945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560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5E5E"/>
                </a:solidFill>
              </a:rPr>
              <a:t>False Positive (101): </a:t>
            </a:r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Model says "correct" for a wrong translation.
Happens with ambiguous 1-word inputs like "hadir", "okay"
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B4DB8"/>
                </a:solidFill>
              </a:rPr>
              <a:t>False Negative (58): </a:t>
            </a:r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Model says "wrong" for a correct translation.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1B3E"/>
                </a:solidFill>
              </a:rPr>
              <a:t>Happens when MSA is unusually long vs short Egyptian input.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7720" y="987552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Generation Qualitative Examples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417320"/>
            <a:ext cx="402336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14356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Egyptian: yalla feen?  (come on, where?)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1664208"/>
            <a:ext cx="4023360" cy="420624"/>
          </a:xfrm>
          <a:prstGeom prst="rect">
            <a:avLst/>
          </a:prstGeom>
          <a:solidFill>
            <a:srgbClr val="FFF0F0"/>
          </a:solidFill>
          <a:ln w="6350">
            <a:solidFill>
              <a:srgbClr val="F05E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5E5E"/>
                </a:solidFill>
              </a:rPr>
              <a:t>Zero-shot: ...what good has this blessed month brought... [FORUM DRIFT]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09160" y="2103120"/>
            <a:ext cx="402336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2130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7A5A"/>
                </a:solidFill>
              </a:rPr>
              <a:t>Fine-tuned: hayya, ayna anta?  (Come, where are you?)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09160" y="2606040"/>
            <a:ext cx="402336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26243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Egyptian: ana mehtag atkallim ma'aki  (I need to talk to you)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709160" y="2852928"/>
            <a:ext cx="4023360" cy="420624"/>
          </a:xfrm>
          <a:prstGeom prst="rect">
            <a:avLst/>
          </a:prstGeom>
          <a:solidFill>
            <a:srgbClr val="FFF0F0"/>
          </a:solidFill>
          <a:ln w="6350">
            <a:solidFill>
              <a:srgbClr val="F05E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0" y="2880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5E5E"/>
                </a:solidFill>
              </a:rPr>
              <a:t>Zero-shot: ...oh my soul, you are mine... [SOCIAL MEDIA DRIFT]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709160" y="3291840"/>
            <a:ext cx="402336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0" y="33192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7A5A"/>
                </a:solidFill>
              </a:rPr>
              <a:t>Fine-tuned: ahtaj an atahaddatha ma'aki  (I need to speak with you)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09160" y="3794760"/>
            <a:ext cx="4023360" cy="228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38130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Egyptian: kunt fakrak mish gayya  (I thought you weren't coming)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709160" y="4041648"/>
            <a:ext cx="4023360" cy="420624"/>
          </a:xfrm>
          <a:prstGeom prst="rect">
            <a:avLst/>
          </a:prstGeom>
          <a:solidFill>
            <a:srgbClr val="FFF0F0"/>
          </a:solidFill>
          <a:ln w="6350">
            <a:solidFill>
              <a:srgbClr val="F05E5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5E5E"/>
                </a:solidFill>
              </a:rPr>
              <a:t>Zero-shot: ...she who was never betrothed... [FORUM DRIFT]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09160" y="4480560"/>
            <a:ext cx="4023360" cy="420624"/>
          </a:xfrm>
          <a:prstGeom prst="rect">
            <a:avLst/>
          </a:prstGeom>
          <a:solidFill>
            <a:srgbClr val="F0FFF8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4507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17A5A"/>
                </a:solidFill>
              </a:rPr>
              <a:t>Fine-tuned: kunnu adhkuruki, lasti qadima  [close but misses 'zan']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" y="3364992"/>
            <a:ext cx="4114800" cy="1508760"/>
          </a:xfrm>
          <a:prstGeom prst="rect">
            <a:avLst/>
          </a:prstGeom>
          <a:solidFill>
            <a:srgbClr val="FFF8E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429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Generation Overfitting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3721608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Train loss: 2.5 → 0.76 over 5 epochs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Dev loss: min at epoch 3 (2.39), then rises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→ Best checkpoint = epoch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3E"/>
                </a:solidFill>
              </a:rPr>
              <a:t>Small corpus (14,600 pairs) limits generalization.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605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420624" cy="42062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78408" y="1399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</a:rPr>
              <a:t>Fine-tuning 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7647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Both tasks improved massively. Detection: +45.6 pp. Generation chrF: +18.5 pts. Zero-shot AraGPT-2 is nearly useless for these tasks.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41605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371600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13248" y="13990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Cloze-style prompting transfers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176479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The detection formulation from English slang (Hernandez &amp; Naik) transfers almost perfectly to Arabic dialect — 0.956 vs 0.965.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98648"/>
            <a:ext cx="41605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F05E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35808"/>
            <a:ext cx="420624" cy="420624"/>
          </a:xfrm>
          <a:prstGeom prst="ellipse">
            <a:avLst/>
          </a:prstGeom>
          <a:solidFill>
            <a:srgbClr val="F05E5E"/>
          </a:solidFill>
          <a:ln w="12700">
            <a:solidFill>
              <a:srgbClr val="F05E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78408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5E5E"/>
                </a:solidFill>
              </a:rPr>
              <a:t>Perplexity is NOT translation quality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PPL increased because Egyptian prompt tokens are never trained on — it is a measurement artifact, not a quality failure.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98648"/>
            <a:ext cx="4160520" cy="1508760"/>
          </a:xfrm>
          <a:prstGeom prst="rect">
            <a:avLst/>
          </a:prstGeom>
          <a:solidFill>
            <a:srgbClr val="0D2137"/>
          </a:solidFill>
          <a:ln w="12700">
            <a:solidFill>
              <a:srgbClr val="9B8F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92040" y="3035808"/>
            <a:ext cx="420624" cy="420624"/>
          </a:xfrm>
          <a:prstGeom prst="ellipse">
            <a:avLst/>
          </a:prstGeom>
          <a:solidFill>
            <a:srgbClr val="9B8FE8"/>
          </a:solidFill>
          <a:ln w="12700">
            <a:solidFill>
              <a:srgbClr val="9B8F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13248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8FE8"/>
                </a:solidFill>
              </a:rPr>
              <a:t>Small data limits generation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3429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0"/>
                </a:solidFill>
              </a:rPr>
              <a:t>The 14,600-pair corpus causes overfitting at epoch 3. Larger corpora or encoder-decoder models (AraT5) are the next step.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773168"/>
            <a:ext cx="877824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github.com/adhamashraf7788/SlangGPT  ·  HuggingFace: AdhamAshraf/egyptian-2-arabic  ·  AIE241 NLP — AIU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SlangGPT: Fine-tuning AraGPT-2</dc:title>
  <dc:subject>PptxGenJS Presentation</dc:subject>
  <dc:creator>PptxGenJS</dc:creator>
  <cp:lastModifiedBy>PptxGenJS</cp:lastModifiedBy>
  <cp:revision>1</cp:revision>
  <dcterms:created xsi:type="dcterms:W3CDTF">2026-05-16T21:06:10Z</dcterms:created>
  <dcterms:modified xsi:type="dcterms:W3CDTF">2026-05-16T21:06:10Z</dcterms:modified>
</cp:coreProperties>
</file>